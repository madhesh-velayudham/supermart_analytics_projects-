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3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ln w="31750" cap="flat" cmpd="sng" algn="ctr">
              <a:solidFill>
                <a:srgbClr val="0A93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9396"/>
              </a:solidFill>
              <a:ln w="9525" cap="flat" cmpd="sng" algn="ctr">
                <a:solidFill>
                  <a:srgbClr val="0A939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</c:v>
                </c:pt>
                <c:pt idx="1">
                  <c:v>10</c:v>
                </c:pt>
                <c:pt idx="2">
                  <c:v>11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9</c:v>
                </c:pt>
                <c:pt idx="9">
                  <c:v>11</c:v>
                </c:pt>
                <c:pt idx="10">
                  <c:v>10</c:v>
                </c:pt>
                <c:pt idx="11">
                  <c:v>11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ln w="31750" cap="flat" cmpd="sng" algn="ctr">
              <a:solidFill>
                <a:srgbClr val="EE9B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E9B00"/>
              </a:solidFill>
              <a:ln w="9525" cap="flat" cmpd="sng" algn="ctr">
                <a:solidFill>
                  <a:srgbClr val="EE9B00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</c:v>
                </c:pt>
                <c:pt idx="1">
                  <c:v>10</c:v>
                </c:pt>
                <c:pt idx="2">
                  <c:v>10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10</c:v>
                </c:pt>
                <c:pt idx="7">
                  <c:v>12</c:v>
                </c:pt>
                <c:pt idx="8">
                  <c:v>10</c:v>
                </c:pt>
                <c:pt idx="9">
                  <c:v>11</c:v>
                </c:pt>
                <c:pt idx="10">
                  <c:v>10</c:v>
                </c:pt>
                <c:pt idx="11">
                  <c:v>10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ln w="31750" cap="flat" cmpd="sng" algn="ctr">
              <a:solidFill>
                <a:srgbClr val="AE20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E2012"/>
              </a:solidFill>
              <a:ln w="9525" cap="flat" cmpd="sng" algn="ctr">
                <a:solidFill>
                  <a:srgbClr val="AE201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</c:v>
                </c:pt>
                <c:pt idx="1">
                  <c:v>10</c:v>
                </c:pt>
                <c:pt idx="2">
                  <c:v>10</c:v>
                </c:pt>
                <c:pt idx="3">
                  <c:v>11</c:v>
                </c:pt>
                <c:pt idx="4">
                  <c:v>11</c:v>
                </c:pt>
                <c:pt idx="5">
                  <c:v>10</c:v>
                </c:pt>
                <c:pt idx="6">
                  <c:v>11</c:v>
                </c:pt>
                <c:pt idx="7">
                  <c:v>11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"/>
          <c:min val="8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a449d57-b70e-455d-bf7a-49f7e1c82e4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31</c:v>
                </c:pt>
                <c:pt idx="2">
                  <c:v>31</c:v>
                </c:pt>
                <c:pt idx="3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EE9B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</c:v>
                </c:pt>
                <c:pt idx="1">
                  <c:v>33</c:v>
                </c:pt>
                <c:pt idx="2">
                  <c:v>32</c:v>
                </c:pt>
                <c:pt idx="3">
                  <c:v>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E201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32</c:v>
                </c:pt>
                <c:pt idx="1">
                  <c:v>32</c:v>
                </c:pt>
                <c:pt idx="2">
                  <c:v>32</c:v>
                </c:pt>
                <c:pt idx="3">
                  <c:v>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"/>
          <c:min val="28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739c0b7-dfb3-40b7-acb5-fb0d20312f59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0D1B2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 panose="020B0604020202020204"/>
              </a:rPr>
              <a:t>Annual Revenue (₹ Lakhs)</a:t>
            </a:r>
            <a:endParaRPr sz="1100" b="0" i="0" u="none" strike="noStrike">
              <a:solidFill>
                <a:srgbClr val="0D1B2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E9B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E201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125.77</c:v>
                </c:pt>
                <c:pt idx="1">
                  <c:v>127.62</c:v>
                </c:pt>
                <c:pt idx="2">
                  <c:v>126.62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5"/>
          <c:min val="12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d092e86-deaf-4cae-b546-b1915cb6ab3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Seasonal Index</c:v>
                </c:pt>
              </c:strCache>
            </c:strRef>
          </c:tx>
          <c:spPr>
            <a:solidFill>
              <a:srgbClr val="EE9B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E9B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E20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E9B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E9B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E9B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E9B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E9B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E201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E9B0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AE2012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E9B00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102.3</c:v>
                </c:pt>
                <c:pt idx="1">
                  <c:v>95.3</c:v>
                </c:pt>
                <c:pt idx="2">
                  <c:v>99.8</c:v>
                </c:pt>
                <c:pt idx="3">
                  <c:v>102.4</c:v>
                </c:pt>
                <c:pt idx="4">
                  <c:v>102.2</c:v>
                </c:pt>
                <c:pt idx="5">
                  <c:v>100.7</c:v>
                </c:pt>
                <c:pt idx="6">
                  <c:v>99.2</c:v>
                </c:pt>
                <c:pt idx="7">
                  <c:v>105.9</c:v>
                </c:pt>
                <c:pt idx="8">
                  <c:v>95.5</c:v>
                </c:pt>
                <c:pt idx="9">
                  <c:v>101.1</c:v>
                </c:pt>
                <c:pt idx="10">
                  <c:v>95.4</c:v>
                </c:pt>
                <c:pt idx="11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2"/>
          <c:min val="9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1f6a1de-1438-40f4-890b-9b84e90bdcf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0D1B2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 panose="020B0604020202020204"/>
              </a:rPr>
              <a:t>Total Revenue by Day (₹ Lakhs)</a:t>
            </a:r>
            <a:endParaRPr sz="1100" b="0" i="0" u="none" strike="noStrike">
              <a:solidFill>
                <a:srgbClr val="0D1B2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(₹L)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E201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</c:v>
                </c:pt>
                <c:pt idx="1">
                  <c:v>54</c:v>
                </c:pt>
                <c:pt idx="2">
                  <c:v>53</c:v>
                </c:pt>
                <c:pt idx="3">
                  <c:v>55</c:v>
                </c:pt>
                <c:pt idx="4">
                  <c:v>53</c:v>
                </c:pt>
                <c:pt idx="5">
                  <c:v>55</c:v>
                </c:pt>
                <c:pt idx="6">
                  <c:v>53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5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cd00077-0efe-4a7d-9530-3c34c6d988a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 (Raw)</c:v>
                </c:pt>
              </c:strCache>
            </c:strRef>
          </c:tx>
          <c:spPr>
            <a:ln w="25400" cap="flat" cmpd="sng" algn="ctr">
              <a:solidFill>
                <a:srgbClr val="D0D7E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0D7E2"/>
              </a:solidFill>
              <a:ln w="9525" cap="flat" cmpd="sng" algn="ctr">
                <a:solidFill>
                  <a:srgbClr val="D0D7E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</c:v>
                </c:pt>
                <c:pt idx="1">
                  <c:v>10</c:v>
                </c:pt>
                <c:pt idx="2">
                  <c:v>11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9</c:v>
                </c:pt>
                <c:pt idx="9">
                  <c:v>11</c:v>
                </c:pt>
                <c:pt idx="10">
                  <c:v>10</c:v>
                </c:pt>
                <c:pt idx="11">
                  <c:v>11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 Rolling</c:v>
                </c:pt>
              </c:strCache>
            </c:strRef>
          </c:tx>
          <c:spPr>
            <a:ln w="25400" cap="flat" cmpd="sng" algn="ctr">
              <a:solidFill>
                <a:srgbClr val="0A93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9396"/>
              </a:solidFill>
              <a:ln w="9525" cap="flat" cmpd="sng" algn="ctr">
                <a:solidFill>
                  <a:srgbClr val="0A939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</c:v>
                </c:pt>
                <c:pt idx="1">
                  <c:v>10</c:v>
                </c:pt>
                <c:pt idx="2">
                  <c:v>11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2023 Rolling</c:v>
                </c:pt>
              </c:strCache>
            </c:strRef>
          </c:tx>
          <c:spPr>
            <a:ln w="25400" cap="flat" cmpd="sng" algn="ctr">
              <a:solidFill>
                <a:srgbClr val="EE9B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E9B00"/>
              </a:solidFill>
              <a:ln w="9525" cap="flat" cmpd="sng" algn="ctr">
                <a:solidFill>
                  <a:srgbClr val="EE9B00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10</c:v>
                </c:pt>
                <c:pt idx="1">
                  <c:v>10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 Rolling</c:v>
                </c:pt>
              </c:strCache>
            </c:strRef>
          </c:tx>
          <c:spPr>
            <a:ln w="25400" cap="flat" cmpd="sng" algn="ctr">
              <a:solidFill>
                <a:srgbClr val="AE20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E2012"/>
              </a:solidFill>
              <a:ln w="9525" cap="flat" cmpd="sng" algn="ctr">
                <a:solidFill>
                  <a:srgbClr val="AE201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11</c:v>
                </c:pt>
                <c:pt idx="1">
                  <c:v>10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"/>
          <c:min val="8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d627a9b-5043-494f-be9b-619524dad48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0D1B2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 panose="020B0604020202020204"/>
              </a:rPr>
              <a:t>Q3 vs Q4 Revenue (₹ Lakhs)</a:t>
            </a:r>
            <a:endParaRPr sz="1100" b="0" i="0" u="none" strike="noStrike">
              <a:solidFill>
                <a:srgbClr val="0D1B2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(Monsoon)</c:v>
                </c:pt>
              </c:strCache>
            </c:strRef>
          </c:tx>
          <c:spPr>
            <a:solidFill>
              <a:srgbClr val="94D2B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32</c:v>
                </c:pt>
                <c:pt idx="2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(Festival)</c:v>
                </c:pt>
              </c:strCache>
            </c:strRef>
          </c:tx>
          <c:spPr>
            <a:solidFill>
              <a:srgbClr val="EE9B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</c:v>
                </c:pt>
                <c:pt idx="1">
                  <c:v>31</c:v>
                </c:pt>
                <c:pt idx="2">
                  <c:v>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"/>
          <c:min val="28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7f16f33-c84a-4fdb-b800-ad6e2426fa23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ln w="25400" cap="flat" cmpd="sng" algn="ctr">
              <a:solidFill>
                <a:srgbClr val="0A93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9396"/>
              </a:solidFill>
              <a:ln w="9525" cap="flat" cmpd="sng" algn="ctr">
                <a:solidFill>
                  <a:srgbClr val="0A939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</c:v>
                </c:pt>
                <c:pt idx="1">
                  <c:v>10</c:v>
                </c:pt>
                <c:pt idx="2">
                  <c:v>11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9</c:v>
                </c:pt>
                <c:pt idx="9">
                  <c:v>11</c:v>
                </c:pt>
                <c:pt idx="10">
                  <c:v>10</c:v>
                </c:pt>
                <c:pt idx="11">
                  <c:v>11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ln w="25400" cap="flat" cmpd="sng" algn="ctr">
              <a:solidFill>
                <a:srgbClr val="EE9B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E9B00"/>
              </a:solidFill>
              <a:ln w="9525" cap="flat" cmpd="sng" algn="ctr">
                <a:solidFill>
                  <a:srgbClr val="EE9B00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</c:v>
                </c:pt>
                <c:pt idx="1">
                  <c:v>10</c:v>
                </c:pt>
                <c:pt idx="2">
                  <c:v>10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10</c:v>
                </c:pt>
                <c:pt idx="7">
                  <c:v>12</c:v>
                </c:pt>
                <c:pt idx="8">
                  <c:v>10</c:v>
                </c:pt>
                <c:pt idx="9">
                  <c:v>11</c:v>
                </c:pt>
                <c:pt idx="10">
                  <c:v>10</c:v>
                </c:pt>
                <c:pt idx="11">
                  <c:v>10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ln w="25400" cap="flat" cmpd="sng" algn="ctr">
              <a:solidFill>
                <a:srgbClr val="AE20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E2012"/>
              </a:solidFill>
              <a:ln w="9525" cap="flat" cmpd="sng" algn="ctr">
                <a:solidFill>
                  <a:srgbClr val="AE201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</c:v>
                </c:pt>
                <c:pt idx="1">
                  <c:v>10</c:v>
                </c:pt>
                <c:pt idx="2">
                  <c:v>10</c:v>
                </c:pt>
                <c:pt idx="3">
                  <c:v>11</c:v>
                </c:pt>
                <c:pt idx="4">
                  <c:v>11</c:v>
                </c:pt>
                <c:pt idx="5">
                  <c:v>10</c:v>
                </c:pt>
                <c:pt idx="6">
                  <c:v>11</c:v>
                </c:pt>
                <c:pt idx="7">
                  <c:v>11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A8A9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"/>
          <c:min val="8"/>
        </c:scaling>
        <c:delete val="0"/>
        <c:axPos val="l"/>
        <c:majorGridlines>
          <c:spPr>
            <a:ln w="6350" cap="flat" cmpd="sng" algn="ctr">
              <a:solidFill>
                <a:srgbClr val="1A2E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A8A9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53cc2af-0b2c-4d89-934e-51cccb9bc6bd}"/>
      </c:ext>
    </c:extLst>
  </c:chart>
  <c:spPr>
    <a:solidFill>
      <a:srgbClr val="0D1B2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31.63</c:v>
                </c:pt>
                <c:pt idx="1">
                  <c:v>31.17</c:v>
                </c:pt>
                <c:pt idx="2">
                  <c:v>31.15</c:v>
                </c:pt>
                <c:pt idx="3">
                  <c:v>31.83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EE9B00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31.04</c:v>
                </c:pt>
                <c:pt idx="1">
                  <c:v>33.12</c:v>
                </c:pt>
                <c:pt idx="2">
                  <c:v>32.49</c:v>
                </c:pt>
                <c:pt idx="3">
                  <c:v>30.96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E2012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31.53</c:v>
                </c:pt>
                <c:pt idx="1">
                  <c:v>32.42</c:v>
                </c:pt>
                <c:pt idx="2">
                  <c:v>31.54</c:v>
                </c:pt>
                <c:pt idx="3">
                  <c:v>31.13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A8A9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"/>
          <c:min val="28"/>
        </c:scaling>
        <c:delete val="0"/>
        <c:axPos val="l"/>
        <c:majorGridlines>
          <c:spPr>
            <a:ln w="6350" cap="flat" cmpd="sng" algn="ctr">
              <a:solidFill>
                <a:srgbClr val="1A2E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A8A9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7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655683-e22c-4241-9b7f-040fe9e334c5}"/>
      </c:ext>
    </c:extLst>
  </c:chart>
  <c:spPr>
    <a:solidFill>
      <a:srgbClr val="0D1B2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D2B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E9B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D2BD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55.96</c:v>
                </c:pt>
                <c:pt idx="1">
                  <c:v>54.27</c:v>
                </c:pt>
                <c:pt idx="2">
                  <c:v>53.42</c:v>
                </c:pt>
                <c:pt idx="3">
                  <c:v>55.08</c:v>
                </c:pt>
                <c:pt idx="4">
                  <c:v>53.04</c:v>
                </c:pt>
                <c:pt idx="5">
                  <c:v>54.87</c:v>
                </c:pt>
                <c:pt idx="6">
                  <c:v>53.36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A8A9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8"/>
          <c:min val="50"/>
        </c:scaling>
        <c:delete val="0"/>
        <c:axPos val="l"/>
        <c:majorGridlines>
          <c:spPr>
            <a:ln w="6350" cap="flat" cmpd="sng" algn="ctr">
              <a:solidFill>
                <a:srgbClr val="1A2E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A8A9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50e92b2-914e-4298-8b6d-2b3f6c321e8a}"/>
      </c:ext>
    </c:extLst>
  </c:chart>
  <c:spPr>
    <a:solidFill>
      <a:srgbClr val="0D1B2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28210" y="11049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14010" y="2697480"/>
            <a:ext cx="2286000" cy="228600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E9B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Series &amp;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EE9B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 Analysis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2004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Seasonality  •  MOM / YOY Growth  •  Demand Forecasting  •  Peak Analysis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50,000 Transactions  |  Period: Jan 2022 – Dec 2024  |  Total Revenue: ₹38.00 Cr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Context &amp; Study Objectives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02336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CFO – Finance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MOM &amp; YOY growth to validate annual revenue targets and flag plateaus.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43000"/>
            <a:ext cx="402336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8016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🏭  Operations Team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618488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demand cycles for inventory planning and seasonal stock optimisation.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4023360" cy="73152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7180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📣  Marketing Dept.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Pinpoint lean months for targeted promotions that maximise campaign ROI.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34640"/>
            <a:ext cx="4023360" cy="73152"/>
          </a:xfrm>
          <a:prstGeom prst="rect">
            <a:avLst/>
          </a:prstGeom>
          <a:solidFill>
            <a:srgbClr val="5E60CE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7180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📈  Leadership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310128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if SuperMart is on a sustainable growth trajectory across 3 years.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KPI Snapshot — 3-Year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figures derived from 50,000 transaction records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8872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 (3-Yr)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" y="137160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₹38.00 Cr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8912" y="17830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Jan 2022 – Dec 2024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54864" cy="10058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18872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Avg Revenue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10712" y="137160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₹12.67 Cr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410712" y="17830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across 2022–2024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63640" y="10972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097280"/>
            <a:ext cx="54864" cy="1005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18872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YOY Growth 22→23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82512" y="137160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+1.5%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82512" y="17830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₹12.58 Cr → ₹12.76 Cr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240280"/>
            <a:ext cx="54864" cy="100584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33172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YOY Growth 23→24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8912" y="251460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−0.8%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38912" y="29260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₹12.76 Cr → ₹12.66 Cr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91840" y="22402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240280"/>
            <a:ext cx="54864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233172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Month Overall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10712" y="251460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August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3410712" y="29260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₹11.17 L | Index 105.9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263640" y="22402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240280"/>
            <a:ext cx="54864" cy="10058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33172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Worst Month Overall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82512" y="251460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February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6382512" y="29260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₹10.06 L | Index 95.3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3832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383280"/>
            <a:ext cx="54864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47472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MOM Growth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8912" y="365760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+15.1%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438912" y="40690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August 2023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91840" y="33832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91840" y="3383280"/>
            <a:ext cx="54864" cy="1005840"/>
          </a:xfrm>
          <a:prstGeom prst="rect">
            <a:avLst/>
          </a:prstGeom>
          <a:solidFill>
            <a:srgbClr val="5E60CE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347472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Revenue Day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10712" y="365760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Monday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3410712" y="40690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₹55.96 L total | Avg ₹780/txn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63640" y="33832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63640" y="3383280"/>
            <a:ext cx="54864" cy="100584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347472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Revenue / Day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82512" y="365760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₹34,704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6382512" y="40690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÷ 1,095 days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1: Monthly Revenue Matrix — 12×3 (Year × Month)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Values in ₹ Lakhs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274320" y="1005840"/>
          <a:ext cx="8595360" cy="3566160"/>
        </p:xfrm>
        <a:graphic>
          <a:graphicData uri="http://schemas.openxmlformats.org/drawingml/2006/table">
            <a:tbl>
              <a:tblPr/>
              <a:tblGrid>
                <a:gridCol w="1417320"/>
                <a:gridCol w="1371600"/>
                <a:gridCol w="1371600"/>
                <a:gridCol w="1371600"/>
                <a:gridCol w="1371600"/>
                <a:gridCol w="132588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2022 Revenue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2023 Revenue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2024 Revenue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3-Yr Average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Seasonal Index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January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₹10.6L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₹10.8L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₹11.0L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₹10.8L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4332"/>
                          </a:solidFill>
                        </a:rPr>
                        <a:t>▲ 102.3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February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₹9.9L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₹9.8L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₹10.5L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₹10.1L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B1D1D"/>
                          </a:solidFill>
                        </a:rPr>
                        <a:t>▼ 95.3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March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₹11.2L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₹10.4L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₹10.1L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₹10.5L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A3E00"/>
                          </a:solidFill>
                        </a:rPr>
                        <a:t>  99.8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April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₹10.4L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₹11.2L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₹10.9L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₹10.8L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4332"/>
                          </a:solidFill>
                        </a:rPr>
                        <a:t>▲ 102.4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May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₹10.1L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₹11.1L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₹11.2L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₹10.8L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4332"/>
                          </a:solidFill>
                        </a:rPr>
                        <a:t>▲ 102.2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June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₹10.7L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₹10.8L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₹10.4L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₹10.6L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A3E00"/>
                          </a:solidFill>
                        </a:rPr>
                        <a:t>  100.7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July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₹10.6L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₹10.3L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₹10.5L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₹10.5L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A3E00"/>
                          </a:solidFill>
                        </a:rPr>
                        <a:t>  99.2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August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₹11.1L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₹11.8L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₹10.7L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₹11.2L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4332"/>
                          </a:solidFill>
                        </a:rPr>
                        <a:t>▲ 105.9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September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₹9.5L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₹10.4L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₹10.3L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₹10.1L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B1D1D"/>
                          </a:solidFill>
                        </a:rPr>
                        <a:t>▼ 95.5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October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₹10.9L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₹10.8L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₹10.3L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₹10.7L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A3E00"/>
                          </a:solidFill>
                        </a:rPr>
                        <a:t>  101.1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November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₹10.1L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₹9.9L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₹10.2L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₹10.1L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B1D1D"/>
                          </a:solidFill>
                        </a:rPr>
                        <a:t>▼ 95.4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December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₹10.8L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₹10.2L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₹10.6L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₹10.6L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A3E00"/>
                          </a:solidFill>
                        </a:rPr>
                        <a:t>  100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54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 avg   ▼ Below avg   — Near avg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3: Monthly Revenue Trend — 3-Year Comparison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chart with one line per year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87755"/>
          <a:ext cx="8595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 rot="16200000">
            <a:off x="91440" y="2560320"/>
            <a:ext cx="73152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Revenue in ₹ Lakhs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2: Month-over-Month (MOM) Growth % — All 36 Months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228600" y="960120"/>
          <a:ext cx="2743200" cy="3209544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Month (2022)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MOM 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Jan'22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Feb'22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-7.0%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Mar'22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4332"/>
                          </a:solidFill>
                        </a:rPr>
                        <a:t>+13.1%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Apr'22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-7.0%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May'22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-2.7%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Jun'22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+5.9%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Jul'22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-0.9%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Aug'22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+4.3%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Sep'22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7B1D1D"/>
                          </a:solidFill>
                        </a:rPr>
                        <a:t>-14.2%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Oct'22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4332"/>
                          </a:solidFill>
                        </a:rPr>
                        <a:t>+15.0%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Nov'22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-7.4%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Dec'22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+6.9%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3200400" y="960120"/>
          <a:ext cx="2743200" cy="3209544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Month (2023)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MOM 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Jan'23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-0.1%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Feb'23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B1D1D"/>
                          </a:solidFill>
                        </a:rPr>
                        <a:t>-8.8%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Mar'23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+5.6%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Apr'23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+7.9%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May'23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-0.9%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Jun'23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-2.9%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Jul'23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-5.0%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Aug'23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4332"/>
                          </a:solidFill>
                        </a:rPr>
                        <a:t>+15.1%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Sep'23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7B1D1D"/>
                          </a:solidFill>
                        </a:rPr>
                        <a:t>-11.7%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Oct'23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+3.9%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Nov'23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B1D1D"/>
                          </a:solidFill>
                        </a:rPr>
                        <a:t>-8.7%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Dec'23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+3.7%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/>
        </p:nvGraphicFramePr>
        <p:xfrm>
          <a:off x="6172200" y="960120"/>
          <a:ext cx="2743200" cy="3209544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Month (2024)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MOM 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Jan'24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+7.4%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Feb'24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-4.8%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Mar'24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-4.1%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Apr'24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+8.0%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May'24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+2.9%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Jun'24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-6.8%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Jul'24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+1.4%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Aug'24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+1.0%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Sep'24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-3.0%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Oct'24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-0.5%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Nov'24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</a:rPr>
                        <a:t>-0.6%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Dec'24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6A4F"/>
                          </a:solidFill>
                        </a:rPr>
                        <a:t>+4.0%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228600" y="47091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≥+10%  🟡 0→−8%  🔴 &lt;−8%  |  Peak: Aug 2023 +15.1%  |  Worst drop: Sep 2022 −14.2%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4: Quarterly Revenue Comparison — Q1 to Q4 (2022–2024)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Values in ₹ Lakhs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60120"/>
          <a:ext cx="85953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 rot="16200000">
            <a:off x="91440" y="2560320"/>
            <a:ext cx="73152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Revenue in ₹ Lakhs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 &amp; Q2: Year-over-Year Revenue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Did SuperMart grow in 2023? Did growth sustain in 2024?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143000"/>
            <a:ext cx="3291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143000"/>
            <a:ext cx="329184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87568" y="1252728"/>
            <a:ext cx="30175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2022→2023 Growth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87568" y="149047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+1.5%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687568" y="2011680"/>
            <a:ext cx="3017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grew from ₹12.58Cr to ₹12.76Cr. Positive but modest growth driven by strong Q2 &amp; Q3.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3017520"/>
            <a:ext cx="3291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3017520"/>
            <a:ext cx="3291840" cy="64008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3127248"/>
            <a:ext cx="30175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2023→2024 Growth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87568" y="336499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−0.8%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687568" y="3886200"/>
            <a:ext cx="3017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Slight dip from ₹12.76Cr to ₹12.66Cr. Q1 2024 recovered but Q3/Q4 lagged behind 2023.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FFF3CD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2024 saw marginal revenue contraction — Marketing should focus on demand stimulation in H2.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8: Seasonal Index per Month — Which Month Is Most Seasonal?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= Month Avg ÷ Grand Avg × 100  |  Base = 100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035040" y="1005840"/>
          <a:ext cx="2834640" cy="2340864"/>
        </p:xfrm>
        <a:graphic>
          <a:graphicData uri="http://schemas.openxmlformats.org/drawingml/2006/table">
            <a:tbl>
              <a:tblPr/>
              <a:tblGrid>
                <a:gridCol w="685800"/>
                <a:gridCol w="502920"/>
                <a:gridCol w="594360"/>
                <a:gridCol w="105156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Index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August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4332"/>
                          </a:solidFill>
                        </a:rPr>
                        <a:t>105.9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</a:rPr>
                        <a:t>▲ Peak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Peak month — plan max inventory &amp; staffing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April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56404"/>
                          </a:solidFill>
                        </a:rPr>
                        <a:t>102.4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</a:rPr>
                        <a:t>▲ Above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Spring demand uptick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January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56404"/>
                          </a:solidFill>
                        </a:rPr>
                        <a:t>102.3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</a:rPr>
                        <a:t>▲ Above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New Year spending effect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May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56404"/>
                          </a:solidFill>
                        </a:rPr>
                        <a:t>102.2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</a:rPr>
                        <a:t>▲ Above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Consistent demand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September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7B1D1D"/>
                          </a:solidFill>
                        </a:rPr>
                        <a:t>95.5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</a:rPr>
                        <a:t>▼ Lean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Post-August slump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November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7B1D1D"/>
                          </a:solidFill>
                        </a:rPr>
                        <a:t>95.4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</a:rPr>
                        <a:t>▼ Lean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Pre-festive dip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February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7B1D1D"/>
                          </a:solidFill>
                        </a:rPr>
                        <a:t>95.3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55555"/>
                          </a:solidFill>
                        </a:rPr>
                        <a:t>▼ Lean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Shortest month, low demand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5 &amp; Q6: Day-of-Week Revenue Analysis — Best Sales Day?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274320" y="100584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3108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05840"/>
            <a:ext cx="310896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0972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Weekday vs Weekend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97880" y="1389888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Weekdays (Mon–Fri): </a:t>
            </a:r>
            <a:r>
              <a:rPr lang="en-US" sz="1100" b="1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₹271.8L
</a:t>
            </a: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Weekends (Sat–Sun): </a:t>
            </a:r>
            <a:r>
              <a:rPr lang="en-US" sz="1100" b="1" dirty="0">
                <a:solidFill>
                  <a:srgbClr val="EE9B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₹108.2L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606040"/>
            <a:ext cx="3108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606040"/>
            <a:ext cx="3108960" cy="640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697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Revenue per Transaction by Day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3017520"/>
            <a:ext cx="1463040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301752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Mon: ₹780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97880" y="3227832"/>
            <a:ext cx="438912" cy="164592"/>
          </a:xfrm>
          <a:prstGeom prst="rect">
            <a:avLst/>
          </a:prstGeom>
          <a:solidFill>
            <a:srgbClr val="94D2B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3227832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Tue: ₹752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897880" y="3438144"/>
            <a:ext cx="621792" cy="164592"/>
          </a:xfrm>
          <a:prstGeom prst="rect">
            <a:avLst/>
          </a:prstGeom>
          <a:solidFill>
            <a:srgbClr val="94D2B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438144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Wed: ₹757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897880" y="3648456"/>
            <a:ext cx="1499616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3648456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Thu: ₹781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897880" y="3858768"/>
            <a:ext cx="292608" cy="164592"/>
          </a:xfrm>
          <a:prstGeom prst="rect">
            <a:avLst/>
          </a:prstGeom>
          <a:solidFill>
            <a:srgbClr val="94D2B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97880" y="3858768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Fri: ₹748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897880" y="4069080"/>
            <a:ext cx="621792" cy="164592"/>
          </a:xfrm>
          <a:prstGeom prst="rect">
            <a:avLst/>
          </a:prstGeom>
          <a:solidFill>
            <a:srgbClr val="94D2B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406908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Sat: ₹757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897880" y="4279392"/>
            <a:ext cx="219456" cy="164592"/>
          </a:xfrm>
          <a:prstGeom prst="rect">
            <a:avLst/>
          </a:prstGeom>
          <a:solidFill>
            <a:srgbClr val="94D2B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97880" y="4279392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Sun: ₹746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Monday &amp; Thursday are the best revenue days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📉 Friday has the lowest average transaction value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6: Rolling 3-Month Average — Smoothing Monthly Volatility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Rolling avg = Current + Previous 2 months ÷ 3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85953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(₹ Lakhs) — Grey line shows raw 2022 for reference, coloured lines = smoothed rolling averages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 &amp; Q3: Best &amp; Worst Months — What Should Marketing Do?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60520" cy="3931920"/>
          </a:xfrm>
          <a:prstGeom prst="rect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7315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BEST MONTH — AUGUST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₹11.17 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3-Year Average Revenue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Seasonal Index: 105.9 — 5.9% above annual average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2022: </a:t>
            </a:r>
            <a:r>
              <a:rPr lang="en-US" sz="1000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₹₹11.1L
</a:t>
            </a:r>
            <a:r>
              <a:rPr lang="en-US" sz="10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2023: </a:t>
            </a:r>
            <a:r>
              <a:rPr lang="en-US" sz="1000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₹₹11.8L (Peak year)
</a:t>
            </a:r>
            <a:r>
              <a:rPr lang="en-US" sz="10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2024: </a:t>
            </a:r>
            <a:r>
              <a:rPr lang="en-US" sz="1000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₹₹10.7L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520440"/>
            <a:ext cx="3840480" cy="822960"/>
          </a:xfrm>
          <a:prstGeom prst="rect">
            <a:avLst/>
          </a:prstGeom>
          <a:solidFill>
            <a:srgbClr val="C7F2D0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Ensure max inventory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👷 Hire seasonal staff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Premium pricing viable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60520" cy="3931920"/>
          </a:xfrm>
          <a:prstGeom prst="rect">
            <a:avLst/>
          </a:prstGeom>
          <a:solidFill>
            <a:srgbClr val="FFE5E5"/>
          </a:solidFill>
          <a:ln w="12700">
            <a:solidFill>
              <a:srgbClr val="FFBA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005840"/>
            <a:ext cx="4160520" cy="73152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1556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📉 WORST MONTH — FEBRUARY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₹10.06 L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3-Year Average Revenue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Seasonal Index: 95.3 — 4.7% below annual average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651760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2022: </a:t>
            </a:r>
            <a:r>
              <a:rPr lang="en-US" sz="1000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₹₹9.9L
</a:t>
            </a:r>
            <a:r>
              <a:rPr lang="en-US" sz="100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2023: </a:t>
            </a:r>
            <a:r>
              <a:rPr lang="en-US" sz="1000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₹₹9.8L
</a:t>
            </a:r>
            <a:r>
              <a:rPr lang="en-US" sz="100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2024: </a:t>
            </a:r>
            <a:r>
              <a:rPr lang="en-US" sz="1000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₹₹10.5L (Slight recovery)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520440"/>
            <a:ext cx="3840480" cy="822960"/>
          </a:xfrm>
          <a:prstGeom prst="rect">
            <a:avLst/>
          </a:prstGeom>
          <a:solidFill>
            <a:srgbClr val="FFD0D0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Launch Valentine's Day campaigns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💸 Run cashback / flash-sale offers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📢 Push slow-moving SKUs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 &amp; Q5: Peak MOM Growth &amp; Q4 Festival Season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274320" y="10058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005840"/>
            <a:ext cx="3474720" cy="16916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94960" y="1005840"/>
            <a:ext cx="3474720" cy="640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097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 Festival Season Finding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32120" y="141732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NO clear Q4 spike detected in the data.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 Q4 was the highest quarter (₹31.83L), but 2023 and 2024 Q4 were actually the LOWEST quarters — suggesting festival-season restocking may already be priced into baseline or competition is intensifying.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94960" y="2788920"/>
            <a:ext cx="3474720" cy="21031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94960" y="2788920"/>
            <a:ext cx="347472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8803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Highest MOM Growth — August 2023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32120" y="318211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+15.1%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532120" y="3794760"/>
            <a:ext cx="32004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 2023: ₹10.26L → August 2023: ₹11.81L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(+₹1.55 Lakhs month-on-month)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Worst MOM drop: September 2022 at −14.2%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(Post-August correction pattern)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7: Months Below Annual Average — Conditional Highlighting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average baseline per year shown as 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 — Avg: ₹10.5L/month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37160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137160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₹10.6L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74520" y="137160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64592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87552" y="164592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₹9.9L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74520" y="164592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92024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87552" y="192024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₹11.2L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74520" y="192024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19456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19456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87552" y="219456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₹10.4L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874520" y="219456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46888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246888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87552" y="246888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₹10.1L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874520" y="246888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74320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274320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87552" y="274320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₹10.7L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74520" y="274320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01752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301752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87552" y="301752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₹10.6L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74520" y="301752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29184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329184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87552" y="329184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₹11.1L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874520" y="329184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356616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356616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87552" y="356616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₹9.5L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874520" y="356616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384048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384048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87552" y="384048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₹10.9L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874520" y="384048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11480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411480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Nov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87552" y="411480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₹10.1L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874520" y="411480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438912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" y="438912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87552" y="438912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₹10.8L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874520" y="438912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246120" y="10058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2023 — Avg: ₹10.6L/month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46120" y="137160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00984" y="137160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959352" y="137160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₹10.8L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846320" y="137160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46120" y="164592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00984" y="164592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Feb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959352" y="164592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₹9.8L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46320" y="164592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246120" y="192024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00984" y="192024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959352" y="192024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₹10.4L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846320" y="192024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246120" y="219456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00984" y="219456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959352" y="219456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₹11.2L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846320" y="219456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246120" y="246888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00984" y="246888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May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959352" y="246888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₹11.1L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846320" y="246888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246120" y="274320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00984" y="274320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959352" y="274320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₹10.8L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846320" y="274320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246120" y="301752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00984" y="301752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3959352" y="301752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₹10.3L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846320" y="301752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46120" y="329184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00984" y="329184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3959352" y="329184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₹11.8L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4846320" y="329184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3246120" y="356616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300984" y="356616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3959352" y="356616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₹10.4L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846320" y="356616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46120" y="384048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300984" y="384048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Oct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3959352" y="384048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₹10.8L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846320" y="384048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246120" y="411480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300984" y="411480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Nov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3959352" y="411480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₹9.9L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4846320" y="411480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3246120" y="438912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300984" y="438912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3959352" y="438912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₹10.2L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4846320" y="438912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6217920" y="10058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 — Avg: ₹10.6L/month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6217920" y="137160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272784" y="137160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Jan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6931152" y="137160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₹11L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7818120" y="137160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6217920" y="164592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272784" y="164592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Feb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6931152" y="164592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₹10.5L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7818120" y="164592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6217920" y="192024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272784" y="192024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6931152" y="192024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₹10.1L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7818120" y="192024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6217920" y="219456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272784" y="219456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6931152" y="219456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₹10.9L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7818120" y="219456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217920" y="246888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272784" y="246888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May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6931152" y="246888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₹11.2L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7818120" y="246888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6217920" y="274320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272784" y="274320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6931152" y="274320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₹10.4L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7818120" y="274320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6217920" y="301752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272784" y="301752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6931152" y="301752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₹10.5L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7818120" y="301752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6217920" y="329184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272784" y="329184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</a:t>
            </a:r>
            <a:endParaRPr lang="en-US" sz="850" dirty="0"/>
          </a:p>
        </p:txBody>
      </p:sp>
      <p:sp>
        <p:nvSpPr>
          <p:cNvPr id="134" name="Text 132"/>
          <p:cNvSpPr/>
          <p:nvPr/>
        </p:nvSpPr>
        <p:spPr>
          <a:xfrm>
            <a:off x="6931152" y="329184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₹10.7L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7818120" y="329184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6217920" y="356616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272784" y="356616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6931152" y="356616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₹10.3L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7818120" y="356616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6217920" y="384048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272784" y="384048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Oct</a:t>
            </a:r>
            <a:endParaRPr lang="en-US" sz="850" dirty="0"/>
          </a:p>
        </p:txBody>
      </p:sp>
      <p:sp>
        <p:nvSpPr>
          <p:cNvPr id="142" name="Text 140"/>
          <p:cNvSpPr/>
          <p:nvPr/>
        </p:nvSpPr>
        <p:spPr>
          <a:xfrm>
            <a:off x="6931152" y="384048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₹10.3L</a:t>
            </a:r>
            <a:endParaRPr lang="en-US" sz="850" dirty="0"/>
          </a:p>
        </p:txBody>
      </p:sp>
      <p:sp>
        <p:nvSpPr>
          <p:cNvPr id="143" name="Text 141"/>
          <p:cNvSpPr/>
          <p:nvPr/>
        </p:nvSpPr>
        <p:spPr>
          <a:xfrm>
            <a:off x="7818120" y="384048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6217920" y="4114800"/>
            <a:ext cx="2743200" cy="246888"/>
          </a:xfrm>
          <a:prstGeom prst="rect">
            <a:avLst/>
          </a:prstGeom>
          <a:solidFill>
            <a:srgbClr val="FFE5E5"/>
          </a:solidFill>
          <a:ln w="6350">
            <a:solidFill>
              <a:srgbClr val="FFBAB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272784" y="411480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Nov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6931152" y="411480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B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₹10.2L</a:t>
            </a:r>
            <a:endParaRPr lang="en-US" sz="850" dirty="0"/>
          </a:p>
        </p:txBody>
      </p:sp>
      <p:sp>
        <p:nvSpPr>
          <p:cNvPr id="147" name="Text 145"/>
          <p:cNvSpPr/>
          <p:nvPr/>
        </p:nvSpPr>
        <p:spPr>
          <a:xfrm>
            <a:off x="7818120" y="411480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20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Below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6217920" y="4389120"/>
            <a:ext cx="2743200" cy="24688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272784" y="4389120"/>
            <a:ext cx="640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</a:t>
            </a:r>
            <a:endParaRPr lang="en-US" sz="850" dirty="0"/>
          </a:p>
        </p:txBody>
      </p:sp>
      <p:sp>
        <p:nvSpPr>
          <p:cNvPr id="150" name="Text 148"/>
          <p:cNvSpPr/>
          <p:nvPr/>
        </p:nvSpPr>
        <p:spPr>
          <a:xfrm>
            <a:off x="6931152" y="4389120"/>
            <a:ext cx="8229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₹10.6L</a:t>
            </a:r>
            <a:endParaRPr lang="en-US" sz="850" dirty="0"/>
          </a:p>
        </p:txBody>
      </p:sp>
      <p:sp>
        <p:nvSpPr>
          <p:cNvPr id="151" name="Text 149"/>
          <p:cNvSpPr/>
          <p:nvPr/>
        </p:nvSpPr>
        <p:spPr>
          <a:xfrm>
            <a:off x="7818120" y="438912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Above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Questions Answered — Q1 to Q7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8595360" cy="521208"/>
          </a:xfrm>
          <a:prstGeom prst="rect">
            <a:avLst/>
          </a:prstGeom>
          <a:solidFill>
            <a:srgbClr val="F8FAFB"/>
          </a:solidFill>
          <a:ln w="6350">
            <a:solidFill>
              <a:srgbClr val="DE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5212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0704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Q1. Revenue grow 2022→2023? 2023→2024?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434840" y="106070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+1.5% growth in 2023 ✅  |  −0.8% dip in 2024 ⚠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72768"/>
            <a:ext cx="54864" cy="5212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27632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Q2. Best month across 3 years?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34840" y="1627632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August — Avg ₹11.17L, Seasonal Index 105.9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8595360" cy="521208"/>
          </a:xfrm>
          <a:prstGeom prst="rect">
            <a:avLst/>
          </a:prstGeom>
          <a:solidFill>
            <a:srgbClr val="F8FAFB"/>
          </a:solidFill>
          <a:ln w="6350">
            <a:solidFill>
              <a:srgbClr val="DE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39696"/>
            <a:ext cx="54864" cy="521208"/>
          </a:xfrm>
          <a:prstGeom prst="rect">
            <a:avLst/>
          </a:prstGeom>
          <a:solidFill>
            <a:srgbClr val="2DC65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9456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Q3. Worst month &amp; marketing response?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34840" y="2194560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February (Index 95.3) — Run Valentine's campaigns &amp; flash sales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706624"/>
            <a:ext cx="85953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06624"/>
            <a:ext cx="54864" cy="521208"/>
          </a:xfrm>
          <a:prstGeom prst="rect">
            <a:avLst/>
          </a:prstGeom>
          <a:solidFill>
            <a:srgbClr val="2DC65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61488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Q4. Highest MOM growth? Which month?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34840" y="2761488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+15.1% in August 2023 (Jul→Aug jump of ₹1.55L)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73552"/>
            <a:ext cx="8595360" cy="521208"/>
          </a:xfrm>
          <a:prstGeom prst="rect">
            <a:avLst/>
          </a:prstGeom>
          <a:solidFill>
            <a:srgbClr val="F8FAFB"/>
          </a:solidFill>
          <a:ln w="6350">
            <a:solidFill>
              <a:srgbClr val="DE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273552"/>
            <a:ext cx="54864" cy="521208"/>
          </a:xfrm>
          <a:prstGeom prst="rect">
            <a:avLst/>
          </a:prstGeom>
          <a:solidFill>
            <a:srgbClr val="EE9B00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28416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Q5. Q4 festival season spike?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34840" y="3328416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No clear spike — 2023 &amp; 2024 Q4 were actually the lowest quarters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85953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840480"/>
            <a:ext cx="54864" cy="521208"/>
          </a:xfrm>
          <a:prstGeom prst="rect">
            <a:avLst/>
          </a:prstGeom>
          <a:solidFill>
            <a:srgbClr val="EE9B00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895344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Q6. Best day of the week?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34840" y="389534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Monday (₹55.96L total) &amp; Thursday (₹55.08L) — highest revenue days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407408"/>
            <a:ext cx="8595360" cy="521208"/>
          </a:xfrm>
          <a:prstGeom prst="rect">
            <a:avLst/>
          </a:prstGeom>
          <a:solidFill>
            <a:srgbClr val="F8FAFB"/>
          </a:solidFill>
          <a:ln w="6350">
            <a:solidFill>
              <a:srgbClr val="DE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407408"/>
            <a:ext cx="54864" cy="521208"/>
          </a:xfrm>
          <a:prstGeom prst="rect">
            <a:avLst/>
          </a:prstGeom>
          <a:solidFill>
            <a:srgbClr val="AE201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462272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Q7. Avg revenue per day (3-year period)?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34840" y="4462272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₹34,704 per day across 1,095 days (Jan 2022 – Dec 2024)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400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 |  Case Study 4 — Executive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Jan 2022 – Dec 2024  |  50,000 Transactions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749808"/>
            <a:ext cx="1682496" cy="868680"/>
          </a:xfrm>
          <a:prstGeom prst="rect">
            <a:avLst/>
          </a:prstGeom>
          <a:solidFill>
            <a:srgbClr val="13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749808"/>
            <a:ext cx="1682496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82296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01168" y="98755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₹38.00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" y="137160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3-Year Combined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911096" y="749808"/>
            <a:ext cx="1682496" cy="868680"/>
          </a:xfrm>
          <a:prstGeom prst="rect">
            <a:avLst/>
          </a:prstGeom>
          <a:solidFill>
            <a:srgbClr val="13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11096" y="749808"/>
            <a:ext cx="1682496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2536" y="82296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YOY 22→23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02536" y="98755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+1.5%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02536" y="137160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₹12.58 → ₹12.76 Cr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712464" y="749808"/>
            <a:ext cx="1682496" cy="868680"/>
          </a:xfrm>
          <a:prstGeom prst="rect">
            <a:avLst/>
          </a:prstGeom>
          <a:solidFill>
            <a:srgbClr val="13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749808"/>
            <a:ext cx="1682496" cy="54864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03904" y="82296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YOY 23→24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03904" y="98755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−0.8%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03904" y="137160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₹12.76 → ₹12.66 Cr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513832" y="749808"/>
            <a:ext cx="1682496" cy="868680"/>
          </a:xfrm>
          <a:prstGeom prst="rect">
            <a:avLst/>
          </a:prstGeom>
          <a:solidFill>
            <a:srgbClr val="13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13832" y="749808"/>
            <a:ext cx="1682496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05272" y="82296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MOM Growth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05272" y="98755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+15.1%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05272" y="137160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August 2023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315200" y="749808"/>
            <a:ext cx="1682496" cy="868680"/>
          </a:xfrm>
          <a:prstGeom prst="rect">
            <a:avLst/>
          </a:prstGeom>
          <a:solidFill>
            <a:srgbClr val="13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749808"/>
            <a:ext cx="1682496" cy="548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82296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/ Day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06640" y="98755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₹34,704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06640" y="137160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 1,095 days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9728" y="171907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Revenue Trend  (₹ Lakhs)</a:t>
            </a:r>
            <a:endParaRPr lang="en-US" sz="9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109728" y="1975104"/>
          <a:ext cx="51206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5394960" y="171907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Quarterly Revenue  (₹ Lakhs)</a:t>
            </a:r>
            <a:endParaRPr lang="en-US" sz="900" dirty="0"/>
          </a:p>
        </p:txBody>
      </p:sp>
      <p:graphicFrame>
        <p:nvGraphicFramePr>
          <p:cNvPr id="33" name="Chart 1"/>
          <p:cNvGraphicFramePr/>
          <p:nvPr/>
        </p:nvGraphicFramePr>
        <p:xfrm>
          <a:off x="5394960" y="1975104"/>
          <a:ext cx="3639312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Text 30"/>
          <p:cNvSpPr/>
          <p:nvPr/>
        </p:nvSpPr>
        <p:spPr>
          <a:xfrm>
            <a:off x="5394960" y="345643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by Day of Week  (₹ Lakhs)</a:t>
            </a:r>
            <a:endParaRPr lang="en-US" sz="900" dirty="0"/>
          </a:p>
        </p:txBody>
      </p:sp>
      <p:graphicFrame>
        <p:nvGraphicFramePr>
          <p:cNvPr id="35" name="Chart 2"/>
          <p:cNvGraphicFramePr/>
          <p:nvPr/>
        </p:nvGraphicFramePr>
        <p:xfrm>
          <a:off x="5413375" y="3712464"/>
          <a:ext cx="3639312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Shape 31"/>
          <p:cNvSpPr/>
          <p:nvPr/>
        </p:nvSpPr>
        <p:spPr>
          <a:xfrm>
            <a:off x="109728" y="4370832"/>
            <a:ext cx="2121408" cy="621792"/>
          </a:xfrm>
          <a:prstGeom prst="rect">
            <a:avLst/>
          </a:prstGeom>
          <a:solidFill>
            <a:srgbClr val="13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19456" y="4370832"/>
            <a:ext cx="1920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 Best Month: August  (Index 105.9)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2359152" y="4370832"/>
            <a:ext cx="2121408" cy="621792"/>
          </a:xfrm>
          <a:prstGeom prst="rect">
            <a:avLst/>
          </a:prstGeom>
          <a:solidFill>
            <a:srgbClr val="13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468880" y="4370832"/>
            <a:ext cx="1920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📉  Worst Month: February  (Index 95.3)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chemeClr val="bg2"/>
                </a:solidFill>
              </a:rPr>
              <a:t>Thank you</a:t>
            </a:r>
            <a:endParaRPr lang="en-US" sz="5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6783</Words>
  <Application>WPS Presentation</Application>
  <PresentationFormat>On-screen Show (16:9)</PresentationFormat>
  <Paragraphs>888</Paragraphs>
  <Slides>17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SuperMart Case Study 4 – Time Series &amp; Trend Analysis</dc:title>
  <dc:creator>PptxGenJS</dc:creator>
  <dc:subject>PptxGenJS Presentation</dc:subject>
  <cp:lastModifiedBy>MADHESH_HOPE_01</cp:lastModifiedBy>
  <cp:revision>3</cp:revision>
  <dcterms:created xsi:type="dcterms:W3CDTF">2026-05-22T08:05:00Z</dcterms:created>
  <dcterms:modified xsi:type="dcterms:W3CDTF">2026-05-25T07:54:36Z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8F5B1CC0B7074FE2B9517FD95A0FED32_12</vt:lpwstr>
  </property>
  <property fmtid="{D5CDD505-2E9C-101B-9397-08002B2CF9AE}" pid="3" name="KSOProductBuildVer">
    <vt:lpwstr>1033-12.1.0.26372</vt:lpwstr>
  </property>
</Properties>
</file>