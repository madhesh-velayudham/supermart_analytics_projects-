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57" r:id="rId17"/>
    <p:sldId id="272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218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Pampers 52</c:v>
                </c:pt>
                <c:pt idx="1">
                  <c:v>Huggies 44</c:v>
                </c:pt>
                <c:pt idx="2">
                  <c:v>Wheat Flour</c:v>
                </c:pt>
                <c:pt idx="3">
                  <c:v>Ariel 2kg</c:v>
                </c:pt>
                <c:pt idx="4">
                  <c:v>Horlicks</c:v>
                </c:pt>
                <c:pt idx="5">
                  <c:v>Surf Excel</c:v>
                </c:pt>
                <c:pt idx="6">
                  <c:v>Basmati 5kg</c:v>
                </c:pt>
                <c:pt idx="7">
                  <c:v>Sona Masoori</c:v>
                </c:pt>
                <c:pt idx="8">
                  <c:v>Bru Coffee</c:v>
                </c:pt>
                <c:pt idx="9">
                  <c:v>A4 Paper</c:v>
                </c:pt>
                <c:pt idx="10">
                  <c:v>Tata Salt</c:v>
                </c:pt>
                <c:pt idx="11">
                  <c:v>Amul Butter</c:v>
                </c:pt>
                <c:pt idx="12">
                  <c:v>Dettol</c:v>
                </c:pt>
                <c:pt idx="13">
                  <c:v>Colgate</c:v>
                </c:pt>
                <c:pt idx="14">
                  <c:v>Real Juice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18.9</c:v>
                </c:pt>
                <c:pt idx="1">
                  <c:v>17.6</c:v>
                </c:pt>
                <c:pt idx="2">
                  <c:v>16</c:v>
                </c:pt>
                <c:pt idx="3">
                  <c:v>12.3</c:v>
                </c:pt>
                <c:pt idx="4">
                  <c:v>11.9</c:v>
                </c:pt>
                <c:pt idx="5">
                  <c:v>11.1</c:v>
                </c:pt>
                <c:pt idx="6">
                  <c:v>10.9</c:v>
                </c:pt>
                <c:pt idx="7">
                  <c:v>10.2</c:v>
                </c:pt>
                <c:pt idx="8">
                  <c:v>10.2</c:v>
                </c:pt>
                <c:pt idx="9">
                  <c:v>10.2</c:v>
                </c:pt>
                <c:pt idx="10">
                  <c:v>9.9</c:v>
                </c:pt>
                <c:pt idx="11">
                  <c:v>9.5</c:v>
                </c:pt>
                <c:pt idx="12">
                  <c:v>9.1</c:v>
                </c:pt>
                <c:pt idx="13">
                  <c:v>8.8</c:v>
                </c:pt>
                <c:pt idx="14">
                  <c:v>8.2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1cbcb0f-c608-4822-ab8b-6f3776dbc363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1218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 &amp; Staples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Dairy &amp; Eggs</c:v>
                </c:pt>
                <c:pt idx="6">
                  <c:v>Health &amp; Wellness</c:v>
                </c:pt>
                <c:pt idx="7">
                  <c:v>Snacks &amp; Biscuits</c:v>
                </c:pt>
                <c:pt idx="8">
                  <c:v>Frozen &amp; Packaged</c:v>
                </c:pt>
                <c:pt idx="9">
                  <c:v>Stationery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85.2</c:v>
                </c:pt>
                <c:pt idx="1">
                  <c:v>61</c:v>
                </c:pt>
                <c:pt idx="2">
                  <c:v>58.3</c:v>
                </c:pt>
                <c:pt idx="3">
                  <c:v>41.2</c:v>
                </c:pt>
                <c:pt idx="4">
                  <c:v>40.9</c:v>
                </c:pt>
                <c:pt idx="5">
                  <c:v>25.8</c:v>
                </c:pt>
                <c:pt idx="6">
                  <c:v>22</c:v>
                </c:pt>
                <c:pt idx="7">
                  <c:v>16.2</c:v>
                </c:pt>
                <c:pt idx="8">
                  <c:v>15.3</c:v>
                </c:pt>
                <c:pt idx="9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 &amp; Staples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Dairy &amp; Eggs</c:v>
                </c:pt>
                <c:pt idx="6">
                  <c:v>Health &amp; Wellness</c:v>
                </c:pt>
                <c:pt idx="7">
                  <c:v>Snacks &amp; Biscuits</c:v>
                </c:pt>
                <c:pt idx="8">
                  <c:v>Frozen &amp; Packaged</c:v>
                </c:pt>
                <c:pt idx="9">
                  <c:v>Stationery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45.2</c:v>
                </c:pt>
                <c:pt idx="1">
                  <c:v>30.5</c:v>
                </c:pt>
                <c:pt idx="2">
                  <c:v>29.3</c:v>
                </c:pt>
                <c:pt idx="3">
                  <c:v>20.7</c:v>
                </c:pt>
                <c:pt idx="4">
                  <c:v>20.5</c:v>
                </c:pt>
                <c:pt idx="5">
                  <c:v>13</c:v>
                </c:pt>
                <c:pt idx="6">
                  <c:v>11.1</c:v>
                </c:pt>
                <c:pt idx="7">
                  <c:v>8.2</c:v>
                </c:pt>
                <c:pt idx="8">
                  <c:v>7.7</c:v>
                </c:pt>
                <c:pt idx="9">
                  <c:v>7.1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0dc7894-21e2-4ef7-a8ef-bdd4b0062554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0% Discount
(n=22,251)</c:v>
                </c:pt>
                <c:pt idx="1">
                  <c:v>10% Discount
(n=11,109)</c:v>
                </c:pt>
                <c:pt idx="2">
                  <c:v>20% Discount
(n=16,640)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54.9</c:v>
                </c:pt>
                <c:pt idx="1">
                  <c:v>50.6</c:v>
                </c:pt>
                <c:pt idx="2">
                  <c:v>44.2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aad1e83-f097-4cf1-86bb-450125a8dba3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2B54"/>
          </a:solidFill>
        </p:spPr>
      </p:sp>
      <p:sp>
        <p:nvSpPr>
          <p:cNvPr id="3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" name="Shape 2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A"/>
                </a:solidFill>
              </a:rPr>
              <a:t>🛒 SUPERMART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</a:rPr>
              <a:t>CASE STUDY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035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 Profitability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ABC Analysis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53035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BD4"/>
                </a:solidFill>
              </a:rPr>
              <a:t>Strategic inventory classification &amp; margin optimization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BD4"/>
                </a:solidFill>
              </a:rPr>
              <a:t>for 65 products across 10 categories | 50,000 orders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5943600" cy="38862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10" name="Text 8"/>
          <p:cNvSpPr/>
          <p:nvPr/>
        </p:nvSpPr>
        <p:spPr>
          <a:xfrm>
            <a:off x="182880" y="4754880"/>
            <a:ext cx="557784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FY 2022–2024   |   Total Revenue: ₹3.8 Cr   |   Total Profit: ₹1.93 Cr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0" y="5486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65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0241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385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50K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8529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Orders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₹3.8Cr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37673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50.8%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46817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Avg Margin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CONTEXT &amp;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749808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CASE STUDY 3 — OVERVIEW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8" name="Text 6"/>
          <p:cNvSpPr/>
          <p:nvPr/>
        </p:nvSpPr>
        <p:spPr>
          <a:xfrm>
            <a:off x="3200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Category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78308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0" name="Text 8"/>
          <p:cNvSpPr/>
          <p:nvPr/>
        </p:nvSpPr>
        <p:spPr>
          <a:xfrm>
            <a:off x="6675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65 products across 10 categories &amp; 25 sub-categories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260604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2" name="Text 10"/>
          <p:cNvSpPr/>
          <p:nvPr/>
        </p:nvSpPr>
        <p:spPr>
          <a:xfrm>
            <a:off x="6675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Identify which products to promote vs discontinue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42900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4" name="Text 12"/>
          <p:cNvSpPr/>
          <p:nvPr/>
        </p:nvSpPr>
        <p:spPr>
          <a:xfrm>
            <a:off x="6675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Prioritize high-margin SKUs for shelf space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17" name="Text 15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🚚  Supply Chain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178308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19" name="Text 17"/>
          <p:cNvSpPr/>
          <p:nvPr/>
        </p:nvSpPr>
        <p:spPr>
          <a:xfrm>
            <a:off x="36393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ABC Analysis to prioritize inventory focus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64992" y="260604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21" name="Text 19"/>
          <p:cNvSpPr/>
          <p:nvPr/>
        </p:nvSpPr>
        <p:spPr>
          <a:xfrm>
            <a:off x="36393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Reduce working capital tied to slow-moving C products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342900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23" name="Text 21"/>
          <p:cNvSpPr/>
          <p:nvPr/>
        </p:nvSpPr>
        <p:spPr>
          <a:xfrm>
            <a:off x="36393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Optimize reorder frequency by category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6" name="Text 24"/>
          <p:cNvSpPr/>
          <p:nvPr/>
        </p:nvSpPr>
        <p:spPr>
          <a:xfrm>
            <a:off x="62636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Finance Team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36792" y="178308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8" name="Text 26"/>
          <p:cNvSpPr/>
          <p:nvPr/>
        </p:nvSpPr>
        <p:spPr>
          <a:xfrm>
            <a:off x="66111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High discounts are killing profit margins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36792" y="260604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66111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Correlation between discount % and margin 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36792" y="342900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2" name="Text 30"/>
          <p:cNvSpPr/>
          <p:nvPr/>
        </p:nvSpPr>
        <p:spPr>
          <a:xfrm>
            <a:off x="66111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Return rate impact on net profitability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83A"/>
                </a:solidFill>
              </a:rPr>
              <a:t>❓  Problem: Which products generate profit? What is the ABC classification? Does discounting kill margins?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ABC ANALYSIS — METHODOLOGY &amp; THRESHOLDS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743200" cy="4160520"/>
          </a:xfrm>
          <a:prstGeom prst="rect">
            <a:avLst/>
          </a:prstGeom>
          <a:solidFill>
            <a:srgbClr val="F0FDF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743200" cy="54864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6" name="Text 4"/>
          <p:cNvSpPr/>
          <p:nvPr/>
        </p:nvSpPr>
        <p:spPr>
          <a:xfrm>
            <a:off x="201168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— CLASS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44168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Top 70%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44168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27 Products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4168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41.5% of SKUs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44168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70%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Protect &amp; Promote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" y="4069080"/>
            <a:ext cx="2468880" cy="731520"/>
          </a:xfrm>
          <a:prstGeom prst="rect">
            <a:avLst/>
          </a:prstGeom>
          <a:solidFill>
            <a:srgbClr val="22C55E">
              <a:alpha val="15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02336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22C55E"/>
                </a:solidFill>
              </a:rPr>
              <a:t>High-value, must-stock items. Maximum shelf space, zero stockout tolerance.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82112" y="777240"/>
            <a:ext cx="2743200" cy="4160520"/>
          </a:xfrm>
          <a:prstGeom prst="rect">
            <a:avLst/>
          </a:prstGeom>
          <a:solidFill>
            <a:srgbClr val="FFFBE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777240"/>
            <a:ext cx="2743200" cy="5486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3182112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 — CLASS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9272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25112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Next 20% Revenue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9272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25112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18 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9272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25112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27.7% of SKUs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9272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25112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20% Revenue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9272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25112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Monitor &amp; Maintain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069080"/>
            <a:ext cx="2468880" cy="731520"/>
          </a:xfrm>
          <a:prstGeom prst="rect">
            <a:avLst/>
          </a:prstGeom>
          <a:solidFill>
            <a:srgbClr val="F5A623">
              <a:alpha val="15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383280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A623"/>
                </a:solidFill>
              </a:rPr>
              <a:t>Mid-tier products. Regular review, standard reorder policies.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777240"/>
            <a:ext cx="2743200" cy="4160520"/>
          </a:xfrm>
          <a:prstGeom prst="rect">
            <a:avLst/>
          </a:prstGeom>
          <a:solidFill>
            <a:srgbClr val="FFF1F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777240"/>
            <a:ext cx="2743200" cy="5486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6" name="Text 34"/>
          <p:cNvSpPr/>
          <p:nvPr/>
        </p:nvSpPr>
        <p:spPr>
          <a:xfrm>
            <a:off x="6163056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 — CLASS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0216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06056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Bottom 10% Revenue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06056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 Products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0216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06056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30.8% of SKUs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0216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06056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10% Revenue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0216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06056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Review &amp; Reduce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0216" y="4069080"/>
            <a:ext cx="2468880" cy="73152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364224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F4444"/>
                </a:solidFill>
              </a:rPr>
              <a:t>Low contributors. Candidates for phase-out or consolidation.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 REVENUE SUMMARY — TOP 15 PRODUCTS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28600" y="685800"/>
          <a:ext cx="8686800" cy="4343408"/>
        </p:xfrm>
        <a:graphic>
          <a:graphicData uri="http://schemas.openxmlformats.org/drawingml/2006/table">
            <a:tbl>
              <a:tblPr/>
              <a:tblGrid>
                <a:gridCol w="320040"/>
                <a:gridCol w="2651760"/>
                <a:gridCol w="1463040"/>
                <a:gridCol w="1463040"/>
                <a:gridCol w="1005840"/>
                <a:gridCol w="640080"/>
              </a:tblGrid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Profit (₹)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ABC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18,90,679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9,45,391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Huggies Medium 44-Pack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17,59,795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8,87,549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49.8%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Wheat Flour 10kg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16,03,599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8,03,079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49.5%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Ariel Powder 2kg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12,32,426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6,16,256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49.6%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Horlicks 500g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11,91,331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5,85,061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Basmati Rice 5kg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10,88,665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6,06,802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55.7%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Surf Excel Detergent 2kg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11,10,558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5,53,738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49.8%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Sona Masoori 5kg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10,18,519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5,64,040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55.4%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Bru Coffee 200g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10,22,193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5,20,370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A4 Paper 500 Sheets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10,24,777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5,11,857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Tata Salt 1kg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9,87,456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4,98,230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50.5%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Amul Butter 500g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9,45,120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4,76,890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Dettol Handwash 200ml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9,12,678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4,55,340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Colgate 200g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8,78,990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4,39,495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Real Mango Juice 1L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8,23,445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4,11,720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PARETO CHART — REVENUE CONTRIBUTION BY ABC CLASS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4 — PARETO ANALYSIS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005840"/>
            <a:ext cx="2468880" cy="39319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07899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183A"/>
                </a:solidFill>
              </a:rPr>
              <a:t>PARETO RULE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13898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80/20 Validated 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37960" y="178308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🟢 27 products (A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drive 70% of revenue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37960" y="251460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🟡 18 products (B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contribute 20% revenue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37960" y="324612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🔴 20 products (C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only add 10% revenue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37960" y="397764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💡 Top 3 products alone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contribute 14% revenue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10 vs BOTTOM 10 — PRODUCTS BY PROFIT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8 — PROFIT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4160520" cy="347472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7" name="Text 5"/>
          <p:cNvSpPr/>
          <p:nvPr/>
        </p:nvSpPr>
        <p:spPr>
          <a:xfrm>
            <a:off x="182880" y="96012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TOP 10 PRODUCTS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389888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Text 7"/>
          <p:cNvSpPr/>
          <p:nvPr/>
        </p:nvSpPr>
        <p:spPr>
          <a:xfrm>
            <a:off x="228600" y="143560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Pampers Small 52-Pack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43560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₹9.45L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49040" y="143560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49.4%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46504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228600" y="179222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79222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Huggies Medium 44-Pack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179222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₹8.88L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49040" y="179222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49.8%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103120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9" name="Text 17"/>
          <p:cNvSpPr/>
          <p:nvPr/>
        </p:nvSpPr>
        <p:spPr>
          <a:xfrm>
            <a:off x="228600" y="214884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14884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Wheat Flour 10kg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0" y="214884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₹8.03L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49040" y="214884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49.5%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459736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228600" y="250545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250545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Ariel Powder 2kg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08960" y="250545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₹6.16L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250545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49.6%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816352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9" name="Text 27"/>
          <p:cNvSpPr/>
          <p:nvPr/>
        </p:nvSpPr>
        <p:spPr>
          <a:xfrm>
            <a:off x="228600" y="2862072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286207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Basmati Rice 5kg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286207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₹6.07L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49040" y="286207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55.7%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3172968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228600" y="321868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321868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Horlicks 500g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08960" y="321868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₹5.85L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49040" y="321868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529584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9" name="Text 37"/>
          <p:cNvSpPr/>
          <p:nvPr/>
        </p:nvSpPr>
        <p:spPr>
          <a:xfrm>
            <a:off x="228600" y="357530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357530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Sona Masoori 5kg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08960" y="357530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₹5.64L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749040" y="357530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55.4%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3886200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228600" y="39319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8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" y="393192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Surf Excel 2kg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108960" y="393192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₹5.54L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49040" y="393192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4242816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49" name="Text 47"/>
          <p:cNvSpPr/>
          <p:nvPr/>
        </p:nvSpPr>
        <p:spPr>
          <a:xfrm>
            <a:off x="228600" y="428853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" y="428853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Bru Coffee 200g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108960" y="428853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₹5.20L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49040" y="428853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50.9%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" y="4599432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228600" y="4645025"/>
            <a:ext cx="514350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10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2920" y="464515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A4 Paper 500 Sheets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108960" y="464515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₹5.12L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749040" y="464515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49.9%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9" name="Text 57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BOTTOM 10 PRODUCTS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1389888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1" name="Text 59"/>
          <p:cNvSpPr/>
          <p:nvPr/>
        </p:nvSpPr>
        <p:spPr>
          <a:xfrm>
            <a:off x="4800600" y="143560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074920" y="143560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Kurkure Masala 90g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680960" y="143560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₹0.46L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21040" y="143560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52.2%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1746504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4800600" y="179222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74920" y="179222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Lays Classic 90g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680960" y="179222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₹0.48L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21040" y="179222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44.4%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54880" y="2103120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71" name="Text 69"/>
          <p:cNvSpPr/>
          <p:nvPr/>
        </p:nvSpPr>
        <p:spPr>
          <a:xfrm>
            <a:off x="4800600" y="214884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3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074920" y="214884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KitKat 4-Finger 41g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80960" y="214884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₹0.65L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21040" y="214884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51.0%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54880" y="2459736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4800600" y="250545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074920" y="250545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Oreo Chocolate 120g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80960" y="250545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₹0.75L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321040" y="250545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49.5%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54880" y="2816352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81" name="Text 79"/>
          <p:cNvSpPr/>
          <p:nvPr/>
        </p:nvSpPr>
        <p:spPr>
          <a:xfrm>
            <a:off x="4800600" y="2862072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5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074920" y="286207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Poha 500g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80960" y="286207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₹0.79L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21040" y="286207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55.5%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54880" y="3172968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800600" y="321868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6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074920" y="321868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Classmate Notebook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680960" y="321868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₹0.84L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321040" y="321868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50.1%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754880" y="3529584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91" name="Text 89"/>
          <p:cNvSpPr/>
          <p:nvPr/>
        </p:nvSpPr>
        <p:spPr>
          <a:xfrm>
            <a:off x="4800600" y="357530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7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074920" y="357530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Turmeric Powder 100g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680960" y="357530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₹0.93L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321040" y="357530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54.1%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754880" y="3886200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6" name="Text 94"/>
          <p:cNvSpPr/>
          <p:nvPr/>
        </p:nvSpPr>
        <p:spPr>
          <a:xfrm>
            <a:off x="4800600" y="39319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8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074920" y="393192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Sprite 1L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680960" y="393192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₹0.96L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321040" y="393192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47.3%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754880" y="4242816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101" name="Text 99"/>
          <p:cNvSpPr/>
          <p:nvPr/>
        </p:nvSpPr>
        <p:spPr>
          <a:xfrm>
            <a:off x="4800600" y="428853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9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074920" y="428853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Parle-G 800g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680960" y="428853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₹1.05L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321040" y="428853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50.1%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754880" y="4599432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6" name="Text 104"/>
          <p:cNvSpPr/>
          <p:nvPr/>
        </p:nvSpPr>
        <p:spPr>
          <a:xfrm>
            <a:off x="4800600" y="4645025"/>
            <a:ext cx="43116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10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074920" y="464515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Reynolds Pen Pack 10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7680960" y="464515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₹1.10L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321040" y="464515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50.5%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CATEGORY REVENUE &amp; PROFIT BREAKDOWN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CATEGORY ANALYSIS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8686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SUB-CATEGORY AVG MARGIN % — TOP vs BOTTOM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5 — SUB-CATEGORY MARGINS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TOP 5 SUB-CATEGORIES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Text 7"/>
          <p:cNvSpPr/>
          <p:nvPr/>
        </p:nvSpPr>
        <p:spPr>
          <a:xfrm>
            <a:off x="320040" y="15270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Rice &amp; Grains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545336"/>
            <a:ext cx="640080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3291840" y="152704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54%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77640" y="154533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3" name="Text 11"/>
          <p:cNvSpPr/>
          <p:nvPr/>
        </p:nvSpPr>
        <p:spPr>
          <a:xfrm>
            <a:off x="3977640" y="154533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82880" y="201168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320040" y="212140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Spices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139696"/>
            <a:ext cx="635508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3291840" y="212140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53.9%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13969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9" name="Text 17"/>
          <p:cNvSpPr/>
          <p:nvPr/>
        </p:nvSpPr>
        <p:spPr>
          <a:xfrm>
            <a:off x="3977640" y="213969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82880" y="260604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1" name="Text 19"/>
          <p:cNvSpPr/>
          <p:nvPr/>
        </p:nvSpPr>
        <p:spPr>
          <a:xfrm>
            <a:off x="320040" y="27157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Pulses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734056"/>
            <a:ext cx="557784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Text 21"/>
          <p:cNvSpPr/>
          <p:nvPr/>
        </p:nvSpPr>
        <p:spPr>
          <a:xfrm>
            <a:off x="3291840" y="271576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52.2%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77640" y="273405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5" name="Text 23"/>
          <p:cNvSpPr/>
          <p:nvPr/>
        </p:nvSpPr>
        <p:spPr>
          <a:xfrm>
            <a:off x="3977640" y="273405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320040" y="3310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Namkeen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3328416"/>
            <a:ext cx="530352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7"/>
          <p:cNvSpPr/>
          <p:nvPr/>
        </p:nvSpPr>
        <p:spPr>
          <a:xfrm>
            <a:off x="3291840" y="33101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51.6%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332841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1" name="Text 29"/>
          <p:cNvSpPr/>
          <p:nvPr/>
        </p:nvSpPr>
        <p:spPr>
          <a:xfrm>
            <a:off x="3977640" y="332841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MONITOR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82880" y="379476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3" name="Text 31"/>
          <p:cNvSpPr/>
          <p:nvPr/>
        </p:nvSpPr>
        <p:spPr>
          <a:xfrm>
            <a:off x="320040" y="39044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Cooking Oil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3922776"/>
            <a:ext cx="525780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3291840" y="390448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51.5%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77640" y="392277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7" name="Text 35"/>
          <p:cNvSpPr/>
          <p:nvPr/>
        </p:nvSpPr>
        <p:spPr>
          <a:xfrm>
            <a:off x="3977640" y="392277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MONITOR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754880" y="987552"/>
            <a:ext cx="4206240" cy="3474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9" name="Text 37"/>
          <p:cNvSpPr/>
          <p:nvPr/>
        </p:nvSpPr>
        <p:spPr>
          <a:xfrm>
            <a:off x="4754880" y="98755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BOTTOM 5 SUB-CATEGORIES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141732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41" name="Text 39"/>
          <p:cNvSpPr/>
          <p:nvPr/>
        </p:nvSpPr>
        <p:spPr>
          <a:xfrm>
            <a:off x="4892040" y="15270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Chips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1545336"/>
            <a:ext cx="201168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3" name="Text 41"/>
          <p:cNvSpPr/>
          <p:nvPr/>
        </p:nvSpPr>
        <p:spPr>
          <a:xfrm>
            <a:off x="7863840" y="152704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44.4%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1545336"/>
            <a:ext cx="34747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5" name="Text 43"/>
          <p:cNvSpPr/>
          <p:nvPr/>
        </p:nvSpPr>
        <p:spPr>
          <a:xfrm>
            <a:off x="8549640" y="154533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754880" y="201168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4892040" y="212140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Cold Drinks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69480" y="2139696"/>
            <a:ext cx="329184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9" name="Text 47"/>
          <p:cNvSpPr/>
          <p:nvPr/>
        </p:nvSpPr>
        <p:spPr>
          <a:xfrm>
            <a:off x="7863840" y="212140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47.2%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9640" y="2139696"/>
            <a:ext cx="34747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1" name="Text 49"/>
          <p:cNvSpPr/>
          <p:nvPr/>
        </p:nvSpPr>
        <p:spPr>
          <a:xfrm>
            <a:off x="8549640" y="213969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754880" y="260604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53" name="Text 51"/>
          <p:cNvSpPr/>
          <p:nvPr/>
        </p:nvSpPr>
        <p:spPr>
          <a:xfrm>
            <a:off x="4892040" y="27157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Health Drinks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69480" y="2734056"/>
            <a:ext cx="434340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5" name="Text 53"/>
          <p:cNvSpPr/>
          <p:nvPr/>
        </p:nvSpPr>
        <p:spPr>
          <a:xfrm>
            <a:off x="7863840" y="271576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49.5%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549640" y="273405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57" name="Text 55"/>
          <p:cNvSpPr/>
          <p:nvPr/>
        </p:nvSpPr>
        <p:spPr>
          <a:xfrm>
            <a:off x="8549640" y="273405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754880" y="320040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4892040" y="3310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Skin Care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69480" y="3328416"/>
            <a:ext cx="434340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1" name="Text 59"/>
          <p:cNvSpPr/>
          <p:nvPr/>
        </p:nvSpPr>
        <p:spPr>
          <a:xfrm>
            <a:off x="7863840" y="33101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49.5%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49640" y="332841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63" name="Text 61"/>
          <p:cNvSpPr/>
          <p:nvPr/>
        </p:nvSpPr>
        <p:spPr>
          <a:xfrm>
            <a:off x="8549640" y="332841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754880" y="379476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5" name="Text 63"/>
          <p:cNvSpPr/>
          <p:nvPr/>
        </p:nvSpPr>
        <p:spPr>
          <a:xfrm>
            <a:off x="4892040" y="39044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Frozen Foods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269480" y="3922776"/>
            <a:ext cx="43891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7" name="Text 65"/>
          <p:cNvSpPr/>
          <p:nvPr/>
        </p:nvSpPr>
        <p:spPr>
          <a:xfrm>
            <a:off x="7863840" y="390448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49.6%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49640" y="392277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69" name="Text 67"/>
          <p:cNvSpPr/>
          <p:nvPr/>
        </p:nvSpPr>
        <p:spPr>
          <a:xfrm>
            <a:off x="8549640" y="392277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DISCOUNT % vs PROFIT MARGIN — CORRELATION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6 — DISCOUNT VS MARGIN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154680" cy="39319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97880" y="107899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183A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1481328"/>
            <a:ext cx="54864" cy="5943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7"/>
          <p:cNvSpPr/>
          <p:nvPr/>
        </p:nvSpPr>
        <p:spPr>
          <a:xfrm>
            <a:off x="6035040" y="148132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0% Discount → 54.9%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171907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Highest margin. Full-price sales maximize profitability.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97880" y="2304288"/>
            <a:ext cx="54864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3" name="Text 10"/>
          <p:cNvSpPr/>
          <p:nvPr/>
        </p:nvSpPr>
        <p:spPr>
          <a:xfrm>
            <a:off x="6035040" y="230428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10% Discount → 50.6%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254203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Moderate drop of 4.3pp. Manageable for volume drives.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3127248"/>
            <a:ext cx="54864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6" name="Text 13"/>
          <p:cNvSpPr/>
          <p:nvPr/>
        </p:nvSpPr>
        <p:spPr>
          <a:xfrm>
            <a:off x="6035040" y="312724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20% Discount → 44.2%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336499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Sharp drop of 10.7pp. High discount erodes margins significantly.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97880" y="3950208"/>
            <a:ext cx="54864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9" name="Text 16"/>
          <p:cNvSpPr/>
          <p:nvPr/>
        </p:nvSpPr>
        <p:spPr>
          <a:xfrm>
            <a:off x="6035040" y="395020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Q4 Answer: YES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418795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Higher discounts always result in lower margins — confirmed trend.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RETURN RATE ANALYSIS — HIGH RISK PRODUCTS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7 — RETURN RATE REVIEW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28600" y="960120"/>
          <a:ext cx="6400800" cy="3977644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914400"/>
                <a:gridCol w="1005840"/>
                <a:gridCol w="914400"/>
              </a:tblGrid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McCain Fries 450g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11.1%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757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Chana Dal 1kg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Bournvita 500g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10.7%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Amul Paneer 200g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10.3%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Real Mango Juice 1L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Dettol Handwash 200ml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Poha 500g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Dove Shampoo 340ml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Toor Dal 1kg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960120"/>
            <a:ext cx="2011680" cy="3977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95160" y="102412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2183A"/>
                </a:solidFill>
              </a:rPr>
              <a:t>INSIGHTS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95160" y="13716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🔴 4 products exceed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10% return rate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95160" y="219456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⚠️ Frozen &amp; Dairy show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highest return risk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95160" y="301752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💡 Quality control &amp;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cold chain needed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95160" y="38404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📦 No product meets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both flags (margin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&lt; 40% + returns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&gt; 10%)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CUMULATIVE REVENUE % — ABC THRESHOLD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2 &amp; 3 — CUMULATIVE ANALYSIS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28600" y="914400"/>
          <a:ext cx="8686800" cy="402336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1280160"/>
                <a:gridCol w="1005840"/>
                <a:gridCol w="1463040"/>
                <a:gridCol w="731520"/>
              </a:tblGrid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 (₹L)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Cumulative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18.9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4.97%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4.97%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Huggies Medium 44-Pack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17.6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4.63%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9.60%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Wheat Flour 10kg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16.0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4.22%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13.82%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Ariel Powder 2kg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3.24%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17.06%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Horlicks 500g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11.9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3.14%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20.20%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Surf Excel 2kg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11.1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2.92%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23.12%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Basmati Rice 5kg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2.87%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25.99%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Sona Masoori 5kg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28.67%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Bru Coffee 200g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31.36%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A4 Paper 500 Sheets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2.70%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34.06%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Tata Salt 1kg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9.9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36.66%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Amul Butter 500g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9.5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2.49%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39.15%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983480"/>
            <a:ext cx="868680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5"/>
          <p:cNvSpPr/>
          <p:nvPr/>
        </p:nvSpPr>
        <p:spPr>
          <a:xfrm>
            <a:off x="228600" y="4937760"/>
            <a:ext cx="8686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Formula: Cumulative Revenue % = Running Total Revenue / Grand Total × 100 | A ≤ 70% | B ≤ 90% | C = Rest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SUB-CATEGORY STRATEGY — EXPAND vs DISCONTINUE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STRATEGIC RECOMMENDATIONS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60520" cy="38404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7" name="Text 5"/>
          <p:cNvSpPr/>
          <p:nvPr/>
        </p:nvSpPr>
        <p:spPr>
          <a:xfrm>
            <a:off x="182880" y="1005840"/>
            <a:ext cx="4160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EXPAND THESE SUB-CATEGORIES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Shape 7"/>
          <p:cNvSpPr/>
          <p:nvPr/>
        </p:nvSpPr>
        <p:spPr>
          <a:xfrm>
            <a:off x="182880" y="1463040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0" name="Text 8"/>
          <p:cNvSpPr/>
          <p:nvPr/>
        </p:nvSpPr>
        <p:spPr>
          <a:xfrm>
            <a:off x="347472" y="1517904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Rice &amp; Grains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75564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54% margin, high volume, consistent demand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121408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182880" y="2121408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347472" y="217627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Spices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41401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53.9% margin, essential FMCG, low returns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2258568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779776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9" name="Shape 17"/>
          <p:cNvSpPr/>
          <p:nvPr/>
        </p:nvSpPr>
        <p:spPr>
          <a:xfrm>
            <a:off x="182880" y="2779776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0" name="Text 18"/>
          <p:cNvSpPr/>
          <p:nvPr/>
        </p:nvSpPr>
        <p:spPr>
          <a:xfrm>
            <a:off x="347472" y="28346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Pulses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3072384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52.2% margin, evergreen category, low waste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91693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438144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182880" y="3438144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5" name="Text 23"/>
          <p:cNvSpPr/>
          <p:nvPr/>
        </p:nvSpPr>
        <p:spPr>
          <a:xfrm>
            <a:off x="347472" y="3493008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Baby Diapers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73075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49%+ margin, high ticket value, loyal buyers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3575304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096512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9" name="Shape 27"/>
          <p:cNvSpPr/>
          <p:nvPr/>
        </p:nvSpPr>
        <p:spPr>
          <a:xfrm>
            <a:off x="182880" y="4096512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0" name="Text 28"/>
          <p:cNvSpPr/>
          <p:nvPr/>
        </p:nvSpPr>
        <p:spPr>
          <a:xfrm>
            <a:off x="347472" y="4151376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Detergents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38912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49.8% margin, A-class products, premium brands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4233672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4" name="Text 32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REVIEW / DISCONTINUE THESE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463040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36" name="Shape 34"/>
          <p:cNvSpPr/>
          <p:nvPr/>
        </p:nvSpPr>
        <p:spPr>
          <a:xfrm>
            <a:off x="4754880" y="1463040"/>
            <a:ext cx="64008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7" name="Text 35"/>
          <p:cNvSpPr/>
          <p:nvPr/>
        </p:nvSpPr>
        <p:spPr>
          <a:xfrm>
            <a:off x="4919472" y="1517904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Chips (Kurkure, Lays)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175564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Lowest margin 44.4%, high competition, low profit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26680" y="1618488"/>
            <a:ext cx="1097280" cy="25603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0" name="Text 38"/>
          <p:cNvSpPr/>
          <p:nvPr/>
        </p:nvSpPr>
        <p:spPr>
          <a:xfrm>
            <a:off x="7726680" y="161848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DISCONTINUE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54880" y="2121408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4754880" y="2121408"/>
            <a:ext cx="64008" cy="5943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43" name="Text 41"/>
          <p:cNvSpPr/>
          <p:nvPr/>
        </p:nvSpPr>
        <p:spPr>
          <a:xfrm>
            <a:off x="4919472" y="217627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Cold Drinks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241401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47.2% margin, Pepsi/Coca-Cola low value, seasonal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26680" y="2276856"/>
            <a:ext cx="1097280" cy="25603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46" name="Text 44"/>
          <p:cNvSpPr/>
          <p:nvPr/>
        </p:nvSpPr>
        <p:spPr>
          <a:xfrm>
            <a:off x="7726680" y="2276856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 SKUs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54880" y="2779776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48" name="Shape 46"/>
          <p:cNvSpPr/>
          <p:nvPr/>
        </p:nvSpPr>
        <p:spPr>
          <a:xfrm>
            <a:off x="4754880" y="2779776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9" name="Text 47"/>
          <p:cNvSpPr/>
          <p:nvPr/>
        </p:nvSpPr>
        <p:spPr>
          <a:xfrm>
            <a:off x="4919472" y="28346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Frozen Foods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19472" y="3072384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49.6% margin + highest return risk (McCain 11.1%)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26680" y="2935224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2" name="Text 50"/>
          <p:cNvSpPr/>
          <p:nvPr/>
        </p:nvSpPr>
        <p:spPr>
          <a:xfrm>
            <a:off x="7726680" y="293522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REVIEW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754880" y="3438144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52"/>
          <p:cNvSpPr/>
          <p:nvPr/>
        </p:nvSpPr>
        <p:spPr>
          <a:xfrm>
            <a:off x="4754880" y="3438144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5" name="Text 53"/>
          <p:cNvSpPr/>
          <p:nvPr/>
        </p:nvSpPr>
        <p:spPr>
          <a:xfrm>
            <a:off x="4919472" y="3493008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Chocolates (KitKat, Oreo)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19472" y="373075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Bottom 10 profit, impulse buy, low basket value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726680" y="3593592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8" name="Text 56"/>
          <p:cNvSpPr/>
          <p:nvPr/>
        </p:nvSpPr>
        <p:spPr>
          <a:xfrm>
            <a:off x="7726680" y="359359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754880" y="4096512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0" name="Shape 58"/>
          <p:cNvSpPr/>
          <p:nvPr/>
        </p:nvSpPr>
        <p:spPr>
          <a:xfrm>
            <a:off x="4754880" y="4096512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1" name="Text 59"/>
          <p:cNvSpPr/>
          <p:nvPr/>
        </p:nvSpPr>
        <p:spPr>
          <a:xfrm>
            <a:off x="4919472" y="4151376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Stationery (Classmate)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19472" y="438912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Low revenue ₹14L, seasonal, C-class products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26680" y="4251960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4" name="Text 62"/>
          <p:cNvSpPr/>
          <p:nvPr/>
        </p:nvSpPr>
        <p:spPr>
          <a:xfrm>
            <a:off x="7726680" y="4251960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QUESTIONS — ANSWERED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7 KEY BUSINESS Q&amp;A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182880" y="98755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8" name="Text 6"/>
          <p:cNvSpPr/>
          <p:nvPr/>
        </p:nvSpPr>
        <p:spPr>
          <a:xfrm>
            <a:off x="338328" y="102412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Q1. How many products fall in A, B, C?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24358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A = 27 products (70% revenue) | B = 18 products (20%) | C = 20 products (10%)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58191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182880" y="158191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10"/>
          <p:cNvSpPr/>
          <p:nvPr/>
        </p:nvSpPr>
        <p:spPr>
          <a:xfrm>
            <a:off x="338328" y="161848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Q2. Which product generates the highest profit?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183794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Pampers Small 52-Pack — ₹9.45 Lakhs profit | 49.4% margin | Class 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17627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182880" y="217627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6" name="Text 14"/>
          <p:cNvSpPr/>
          <p:nvPr/>
        </p:nvSpPr>
        <p:spPr>
          <a:xfrm>
            <a:off x="338328" y="221284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Q3. Lowest profit margin product? Discontinue?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" y="243230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Lays Classic 90g — 44.4% margin. Review recommended; low absolute profit ₹0.48L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77063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182880" y="277063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0" name="Text 18"/>
          <p:cNvSpPr/>
          <p:nvPr/>
        </p:nvSpPr>
        <p:spPr>
          <a:xfrm>
            <a:off x="338328" y="280720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Q4. Does higher discount = lower margin?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" y="302666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YES. 0% disc = 54.9% margin | 10% disc = 50.6% | 20% disc = 44.2% — clear negative correlation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36499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3" name="Shape 21"/>
          <p:cNvSpPr/>
          <p:nvPr/>
        </p:nvSpPr>
        <p:spPr>
          <a:xfrm>
            <a:off x="182880" y="336499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4" name="Text 22"/>
          <p:cNvSpPr/>
          <p:nvPr/>
        </p:nvSpPr>
        <p:spPr>
          <a:xfrm>
            <a:off x="338328" y="340156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Q5. Sub-category with best avg margin %?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" y="362102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Rice &amp; Grains — 54.0% avg margin. Followed by Spices (53.9%) and Pulses (52.2%)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395935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82880" y="395935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8" name="Text 26"/>
          <p:cNvSpPr/>
          <p:nvPr/>
        </p:nvSpPr>
        <p:spPr>
          <a:xfrm>
            <a:off x="338328" y="399592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Q6. High return rate products — recommendation?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" y="421538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McCain Fries (11.1%), Chana Dal (11.0%), Bournvita (10.7%) — Quality audit &amp; cold chain review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455371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31" name="Shape 29"/>
          <p:cNvSpPr/>
          <p:nvPr/>
        </p:nvSpPr>
        <p:spPr>
          <a:xfrm>
            <a:off x="182880" y="455371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2" name="Text 30"/>
          <p:cNvSpPr/>
          <p:nvPr/>
        </p:nvSpPr>
        <p:spPr>
          <a:xfrm>
            <a:off x="338328" y="459028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Q7. If we remove C products, % revenue lost?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8328" y="480974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Only 10.8% revenue lost (₹4.09 Cr of ₹38 Cr) — low cost, high operational benefit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📊  EXECUTIVE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C85A"/>
                </a:solidFill>
              </a:rPr>
              <a:t>SuperMart | Product Profitability Overview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1627632" cy="960120"/>
          </a:xfrm>
          <a:prstGeom prst="rect">
            <a:avLst/>
          </a:prstGeom>
          <a:solidFill>
            <a:srgbClr val="12183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₹3.8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FY 2022–24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749808"/>
            <a:ext cx="1627632" cy="960120"/>
          </a:xfrm>
          <a:prstGeom prst="rect">
            <a:avLst/>
          </a:prstGeom>
          <a:solidFill>
            <a:srgbClr val="2E4FA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₹1.93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38528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38528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Overall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749808"/>
            <a:ext cx="1627632" cy="96012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50.8%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12464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AVG MARGIN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Across all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749808"/>
            <a:ext cx="1627632" cy="960120"/>
          </a:xfrm>
          <a:prstGeom prst="rect">
            <a:avLst/>
          </a:prstGeom>
          <a:solidFill>
            <a:srgbClr val="8B5CF6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0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PRODUCTS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150632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 Ca``tegories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60336" y="749808"/>
            <a:ext cx="1627632" cy="960120"/>
          </a:xfrm>
          <a:prstGeom prst="rect">
            <a:avLst/>
          </a:prstGeom>
          <a:solidFill>
            <a:srgbClr val="F5A62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0336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83A"/>
                </a:solidFill>
              </a:rPr>
              <a:t>50K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0336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ORDERS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2183A"/>
                </a:solidFill>
              </a:rPr>
              <a:t>3 Years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" y="1920240"/>
            <a:ext cx="41148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19659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ABC CLASSIFICATION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331720"/>
            <a:ext cx="292608" cy="32918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8" name="Text 26"/>
          <p:cNvSpPr/>
          <p:nvPr/>
        </p:nvSpPr>
        <p:spPr>
          <a:xfrm>
            <a:off x="621792" y="235915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A — Top Performers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2514600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27 products | Rev: 70%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386584"/>
            <a:ext cx="1088136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1" name="Text 29"/>
          <p:cNvSpPr/>
          <p:nvPr/>
        </p:nvSpPr>
        <p:spPr>
          <a:xfrm>
            <a:off x="3877056" y="2386584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</a:rPr>
              <a:t>70%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852928"/>
            <a:ext cx="292608" cy="32918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3" name="Text 31"/>
          <p:cNvSpPr/>
          <p:nvPr/>
        </p:nvSpPr>
        <p:spPr>
          <a:xfrm>
            <a:off x="621792" y="288036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B — Mid Tier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035808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18 products | Rev: 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0" y="2907792"/>
            <a:ext cx="310896" cy="2286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6" name="Text 34"/>
          <p:cNvSpPr/>
          <p:nvPr/>
        </p:nvSpPr>
        <p:spPr>
          <a:xfrm>
            <a:off x="3099816" y="2907792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20%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374136"/>
            <a:ext cx="292608" cy="32918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8" name="Text 36"/>
          <p:cNvSpPr/>
          <p:nvPr/>
        </p:nvSpPr>
        <p:spPr>
          <a:xfrm>
            <a:off x="621792" y="340156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C — Low Contribution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3557016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 products | Rev: 10%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0" y="3429000"/>
            <a:ext cx="155448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1" name="Text 39"/>
          <p:cNvSpPr/>
          <p:nvPr/>
        </p:nvSpPr>
        <p:spPr>
          <a:xfrm>
            <a:off x="2944368" y="3429000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10%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1920240"/>
            <a:ext cx="4389120" cy="2103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81728" y="196596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TOP 5 PRODUCTS BY PROFIT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81728" y="2304288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9472" y="2304288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Pampers Small 52-Pack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18120" y="2340864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7" name="Text 45"/>
          <p:cNvSpPr/>
          <p:nvPr/>
        </p:nvSpPr>
        <p:spPr>
          <a:xfrm>
            <a:off x="7818120" y="2340864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₹9.45L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81728" y="2642616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19472" y="2642616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Huggies Medium 44-Pack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18120" y="2679192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1" name="Text 49"/>
          <p:cNvSpPr/>
          <p:nvPr/>
        </p:nvSpPr>
        <p:spPr>
          <a:xfrm>
            <a:off x="7818120" y="2679192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₹8.88L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81728" y="2980944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19472" y="2980944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Wheat Flour 10kg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18120" y="3017520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5" name="Text 53"/>
          <p:cNvSpPr/>
          <p:nvPr/>
        </p:nvSpPr>
        <p:spPr>
          <a:xfrm>
            <a:off x="7818120" y="3017520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₹8.03L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81728" y="3319272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FA3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19472" y="3319272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Ariel Powder 2kg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18120" y="3355848"/>
            <a:ext cx="640080" cy="18288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59" name="Text 57"/>
          <p:cNvSpPr/>
          <p:nvPr/>
        </p:nvSpPr>
        <p:spPr>
          <a:xfrm>
            <a:off x="7818120" y="3355848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₹6.16L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81728" y="3657600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FA3"/>
                </a:solidFill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19472" y="3657600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Basmati Rice 5kg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18120" y="3694176"/>
            <a:ext cx="640080" cy="18288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63" name="Text 61"/>
          <p:cNvSpPr/>
          <p:nvPr/>
        </p:nvSpPr>
        <p:spPr>
          <a:xfrm>
            <a:off x="7818120" y="3694176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₹6.07L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4592" y="4160520"/>
            <a:ext cx="4114800" cy="804672"/>
          </a:xfrm>
          <a:prstGeom prst="rect">
            <a:avLst/>
          </a:prstGeom>
          <a:solidFill>
            <a:srgbClr val="12183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74320" y="4187952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DISCOUNT → MARGIN IMPACT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74320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0% Disc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54.9%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581912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10%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581912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50.6%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889504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20%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889504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44.2%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0" y="4160520"/>
            <a:ext cx="4389120" cy="804672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187952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KEY INSIGHT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681728" y="4370832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Top 27 'A' products drive 70% of revenue. Removing bottom 20 'C' products saves cost while losing only 10.8% revenue. Rice &amp; Grains sub-category leads with 54% avg margin.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A623"/>
                </a:solidFill>
              </a:rPr>
              <a:t>CASE STUDY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Product Profitability</a:t>
            </a:r>
            <a:endParaRPr lang="en-US" sz="3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ABC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F5A623"/>
                </a:solidFill>
              </a:rPr>
              <a:t>COMPLETE    THANKYOU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A=27 | B=18 | C=20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ABC Classification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₹9.45L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Highest Profit Product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54.0%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Best Sub-Cat Margin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10.8%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Revenue if C removed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285"/>
                </a:solidFill>
              </a:rPr>
              <a:t>SuperMart Data Analytics | 50,000 Orders | FY 2022–2024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7856</Words>
  <Application>WPS Presentation</Application>
  <PresentationFormat>On-screen Show (16:9)</PresentationFormat>
  <Paragraphs>1133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Case Study 3 – Product Profitability &amp; ABC Analysis</dc:title>
  <dc:creator>PptxGenJS</dc:creator>
  <dc:subject>PptxGenJS Presentation</dc:subject>
  <cp:lastModifiedBy>MADHESH_HOPE_01</cp:lastModifiedBy>
  <cp:revision>3</cp:revision>
  <dcterms:created xsi:type="dcterms:W3CDTF">2026-05-22T03:11:00Z</dcterms:created>
  <dcterms:modified xsi:type="dcterms:W3CDTF">2026-05-25T08:30:41Z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992E87F9A7B448908F26782F19538281_12</vt:lpwstr>
  </property>
  <property fmtid="{D5CDD505-2E9C-101B-9397-08002B2CF9AE}" pid="3" name="KSOProductBuildVer">
    <vt:lpwstr>1033-12.1.0.26372</vt:lpwstr>
  </property>
</Properties>
</file>